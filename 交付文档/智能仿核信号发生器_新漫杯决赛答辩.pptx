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930" r:id="rId3"/>
    <p:sldId id="938" r:id="rId5"/>
    <p:sldId id="932" r:id="rId6"/>
    <p:sldId id="933" r:id="rId7"/>
    <p:sldId id="934" r:id="rId8"/>
    <p:sldId id="935" r:id="rId9"/>
    <p:sldId id="936" r:id="rId10"/>
    <p:sldId id="937" r:id="rId11"/>
    <p:sldId id="258" r:id="rId12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6" userDrawn="1">
          <p15:clr>
            <a:srgbClr val="A4A3A4"/>
          </p15:clr>
        </p15:guide>
        <p15:guide id="2" pos="75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4" clrIdx="0"/>
  <p:cmAuthor id="2" name="Niyitian" initials="N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5BAB"/>
    <a:srgbClr val="5CB531"/>
    <a:srgbClr val="86C866"/>
    <a:srgbClr val="3741C3"/>
    <a:srgbClr val="DCA600"/>
    <a:srgbClr val="203FDA"/>
    <a:srgbClr val="8777EC"/>
    <a:srgbClr val="39DFCA"/>
    <a:srgbClr val="858B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/>
    <p:restoredTop sz="94724"/>
  </p:normalViewPr>
  <p:slideViewPr>
    <p:cSldViewPr snapToGrid="0" snapToObjects="1" showGuides="1">
      <p:cViewPr varScale="1">
        <p:scale>
          <a:sx n="70" d="100"/>
          <a:sy n="70" d="100"/>
        </p:scale>
        <p:origin x="420" y="45"/>
      </p:cViewPr>
      <p:guideLst>
        <p:guide orient="horz" pos="3166"/>
        <p:guide pos="759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2" d="100"/>
          <a:sy n="112" d="100"/>
        </p:scale>
        <p:origin x="476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commentAuthors" Target="commentAuthors.xml"/><Relationship Id="rId18" Type="http://schemas.openxmlformats.org/officeDocument/2006/relationships/tags" Target="tags/tag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ECF5B-5A57-8245-9B57-F00229C6DB7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C78D5-FEAA-AC48-8196-19B42DCEB3C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3518E-43F5-3044-8FED-09D19920268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6C9A2-0B41-0A40-9B2E-2B18CCA2A68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/>
              <a:t>汇报时间</a:t>
            </a:r>
            <a:r>
              <a:rPr lang="en-US" altLang="zh-CN" b="1"/>
              <a:t>5min</a:t>
            </a:r>
            <a:endParaRPr lang="en-US" altLang="zh-CN"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6C9A2-0B41-0A40-9B2E-2B18CCA2A68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-599440" y="2749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4" name="文本占位符 37"/>
          <p:cNvSpPr>
            <a:spLocks noGrp="1"/>
          </p:cNvSpPr>
          <p:nvPr>
            <p:ph type="body" sz="quarter" idx="15" hasCustomPrompt="1"/>
          </p:nvPr>
        </p:nvSpPr>
        <p:spPr>
          <a:xfrm>
            <a:off x="2031639" y="4844591"/>
            <a:ext cx="8129783" cy="450291"/>
          </a:xfrm>
        </p:spPr>
        <p:txBody>
          <a:bodyPr>
            <a:normAutofit/>
          </a:bodyPr>
          <a:lstStyle>
            <a:lvl1pPr marL="0" indent="0" algn="ctr">
              <a:buNone/>
              <a:defRPr sz="2400" b="0">
                <a:solidFill>
                  <a:srgbClr val="595757"/>
                </a:solidFill>
                <a:latin typeface="+mj-ea"/>
                <a:ea typeface="+mj-ea"/>
              </a:defRPr>
            </a:lvl1pPr>
            <a:lvl2pPr marL="457200" indent="0">
              <a:buNone/>
              <a:defRPr>
                <a:latin typeface="+mj-ea"/>
                <a:ea typeface="+mj-ea"/>
              </a:defRPr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二级副标题</a:t>
            </a:r>
            <a:endParaRPr kumimoji="1" lang="zh-CN" altLang="en-US" dirty="0"/>
          </a:p>
        </p:txBody>
      </p:sp>
      <p:sp>
        <p:nvSpPr>
          <p:cNvPr id="15" name="文本占位符 37"/>
          <p:cNvSpPr>
            <a:spLocks noGrp="1"/>
          </p:cNvSpPr>
          <p:nvPr>
            <p:ph type="body" sz="quarter" idx="16" hasCustomPrompt="1"/>
          </p:nvPr>
        </p:nvSpPr>
        <p:spPr>
          <a:xfrm>
            <a:off x="11391265" y="6463665"/>
            <a:ext cx="800735" cy="340360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rgbClr val="595757"/>
                </a:solidFill>
                <a:latin typeface="+mj-ea"/>
                <a:ea typeface="+mj-ea"/>
              </a:defRPr>
            </a:lvl1pPr>
            <a:lvl2pPr marL="457200" indent="0">
              <a:buNone/>
              <a:defRPr>
                <a:latin typeface="+mj-ea"/>
                <a:ea typeface="+mj-ea"/>
              </a:defRPr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en-US" altLang="zh-CN" dirty="0"/>
              <a:t>2026</a:t>
            </a:r>
            <a:endParaRPr kumimoji="1" lang="en-US" altLang="zh-CN" dirty="0"/>
          </a:p>
        </p:txBody>
      </p:sp>
      <p:pic>
        <p:nvPicPr>
          <p:cNvPr id="3" name="图片 2" descr="白logo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6855" y="189865"/>
            <a:ext cx="1230630" cy="369570"/>
          </a:xfrm>
          <a:prstGeom prst="rect">
            <a:avLst/>
          </a:prstGeom>
        </p:spPr>
      </p:pic>
      <p:pic>
        <p:nvPicPr>
          <p:cNvPr id="4" name="图片 3" descr="新漫杯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78555" y="2734310"/>
            <a:ext cx="4521200" cy="1178560"/>
          </a:xfrm>
          <a:prstGeom prst="rect">
            <a:avLst/>
          </a:prstGeom>
        </p:spPr>
      </p:pic>
      <p:pic>
        <p:nvPicPr>
          <p:cNvPr id="6" name="图片 5" descr="20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96000" y="2298065"/>
            <a:ext cx="1944370" cy="370205"/>
          </a:xfrm>
          <a:prstGeom prst="rect">
            <a:avLst/>
          </a:prstGeom>
        </p:spPr>
      </p:pic>
      <p:sp>
        <p:nvSpPr>
          <p:cNvPr id="9" name="文本占位符 37"/>
          <p:cNvSpPr>
            <a:spLocks noGrp="1"/>
          </p:cNvSpPr>
          <p:nvPr>
            <p:ph type="body" sz="quarter" idx="17" hasCustomPrompt="1"/>
          </p:nvPr>
        </p:nvSpPr>
        <p:spPr>
          <a:xfrm>
            <a:off x="2032274" y="5294806"/>
            <a:ext cx="8129783" cy="450291"/>
          </a:xfrm>
        </p:spPr>
        <p:txBody>
          <a:bodyPr>
            <a:normAutofit/>
          </a:bodyPr>
          <a:lstStyle>
            <a:lvl1pPr marL="0" indent="0" algn="ctr">
              <a:buNone/>
              <a:defRPr sz="2400" b="0">
                <a:solidFill>
                  <a:srgbClr val="595757"/>
                </a:solidFill>
                <a:latin typeface="+mj-ea"/>
                <a:ea typeface="+mj-ea"/>
              </a:defRPr>
            </a:lvl1pPr>
            <a:lvl2pPr marL="457200" indent="0">
              <a:buNone/>
              <a:defRPr>
                <a:latin typeface="+mj-ea"/>
                <a:ea typeface="+mj-ea"/>
              </a:defRPr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二级副标题</a:t>
            </a:r>
            <a:endParaRPr kumimoji="1" lang="zh-CN" altLang="en-US" dirty="0"/>
          </a:p>
        </p:txBody>
      </p:sp>
      <p:pic>
        <p:nvPicPr>
          <p:cNvPr id="2" name="图片 1" descr="Group 482067280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854450" y="3961130"/>
            <a:ext cx="4356735" cy="6883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开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-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占位符 37"/>
          <p:cNvSpPr>
            <a:spLocks noGrp="1"/>
          </p:cNvSpPr>
          <p:nvPr>
            <p:ph type="body" sz="quarter" idx="10" hasCustomPrompt="1"/>
          </p:nvPr>
        </p:nvSpPr>
        <p:spPr>
          <a:xfrm>
            <a:off x="1641475" y="1395095"/>
            <a:ext cx="970280" cy="450215"/>
          </a:xfr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>
            <a:no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>
                <a:latin typeface="+mj-ea"/>
                <a:ea typeface="+mj-ea"/>
              </a:defRPr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6" name="文本占位符 37"/>
          <p:cNvSpPr>
            <a:spLocks noGrp="1"/>
          </p:cNvSpPr>
          <p:nvPr>
            <p:ph type="body" sz="quarter" idx="13" hasCustomPrompt="1"/>
          </p:nvPr>
        </p:nvSpPr>
        <p:spPr>
          <a:xfrm>
            <a:off x="2857435" y="1542661"/>
            <a:ext cx="5435896" cy="303158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>
                <a:latin typeface="+mj-ea"/>
                <a:ea typeface="+mj-ea"/>
              </a:defRPr>
            </a:lvl2pPr>
            <a:lvl3pPr marL="914400" indent="0">
              <a:buNone/>
              <a:defRPr/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二级副标题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Frame 4823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71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rame 48239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654550"/>
            <a:ext cx="12192000" cy="2203450"/>
          </a:xfrm>
          <a:prstGeom prst="rect">
            <a:avLst/>
          </a:prstGeom>
        </p:spPr>
      </p:pic>
      <p:pic>
        <p:nvPicPr>
          <p:cNvPr id="4" name="图片 3" descr="资源 1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46015" y="2159635"/>
            <a:ext cx="2201545" cy="640715"/>
          </a:xfrm>
          <a:prstGeom prst="rect">
            <a:avLst/>
          </a:prstGeom>
        </p:spPr>
      </p:pic>
      <p:pic>
        <p:nvPicPr>
          <p:cNvPr id="5" name="图片 4" descr="感谢聆听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935855" y="2961005"/>
            <a:ext cx="2201545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D53FA-6717-4E41-B57C-29BCD316F8C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419D-FEEB-7C48-889B-3863E5A95D9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D53FA-6717-4E41-B57C-29BCD316F8C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419D-FEEB-7C48-889B-3863E5A95D9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0000" lnSpcReduction="20000"/>
          </a:bodyPr>
          <a:p>
            <a:endParaRPr lang="zh-CN" altLang="en-US"/>
          </a:p>
        </p:txBody>
      </p:sp>
      <p:sp>
        <p:nvSpPr>
          <p:cNvPr id="5" name="文本占位符 3"/>
          <p:cNvSpPr>
            <a:spLocks noGrp="1"/>
          </p:cNvSpPr>
          <p:nvPr/>
        </p:nvSpPr>
        <p:spPr>
          <a:xfrm>
            <a:off x="1937024" y="5659296"/>
            <a:ext cx="8129783" cy="4502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rgbClr val="595757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队名：</a:t>
            </a:r>
            <a:r>
              <a:rPr lang="en-US" altLang="zh-CN" sz="3200"/>
              <a:t>XXX</a:t>
            </a:r>
            <a:r>
              <a:rPr lang="zh-CN" altLang="en-US" sz="3200"/>
              <a:t>队</a:t>
            </a:r>
            <a:endParaRPr lang="zh-CN" altLang="en-US" sz="3200"/>
          </a:p>
        </p:txBody>
      </p:sp>
      <p:sp>
        <p:nvSpPr>
          <p:cNvPr id="6" name="文本占位符 1"/>
          <p:cNvSpPr>
            <a:spLocks noGrp="1"/>
          </p:cNvSpPr>
          <p:nvPr/>
        </p:nvSpPr>
        <p:spPr>
          <a:xfrm>
            <a:off x="960120" y="4958080"/>
            <a:ext cx="10272395" cy="450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rgbClr val="595757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智能仿核信号发生器</a:t>
            </a:r>
            <a:endParaRPr lang="zh-CN" alt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pPr algn="l"/>
            <a:r>
              <a:rPr lang="en-US" altLang="zh-CN" sz="2200"/>
              <a:t>1. </a:t>
            </a:r>
            <a:r>
              <a:rPr lang="zh-CN" altLang="en-US" sz="2200"/>
              <a:t>组队介绍</a:t>
            </a:r>
            <a:endParaRPr lang="zh-CN" altLang="en-US" sz="220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2857435" y="1989066"/>
            <a:ext cx="5435896" cy="3031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200"/>
              <a:t>2. </a:t>
            </a:r>
            <a:r>
              <a:rPr lang="zh-CN" altLang="en-US" sz="2200">
                <a:sym typeface="+mn-ea"/>
              </a:rPr>
              <a:t>系统总体方案与硬件架构</a:t>
            </a:r>
            <a:endParaRPr lang="zh-CN" altLang="en-US" sz="2200"/>
          </a:p>
        </p:txBody>
      </p:sp>
      <p:sp>
        <p:nvSpPr>
          <p:cNvPr id="5" name="文本占位符 2"/>
          <p:cNvSpPr>
            <a:spLocks noGrp="1"/>
          </p:cNvSpPr>
          <p:nvPr/>
        </p:nvSpPr>
        <p:spPr>
          <a:xfrm>
            <a:off x="2862515" y="2457696"/>
            <a:ext cx="5435896" cy="3031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200"/>
              <a:t>3. </a:t>
            </a:r>
            <a:r>
              <a:rPr lang="zh-CN" altLang="en-US" sz="2200">
                <a:sym typeface="+mn-ea"/>
              </a:rPr>
              <a:t>核心算法与关键技术实现</a:t>
            </a:r>
            <a:endParaRPr lang="zh-CN" altLang="en-US" sz="2200"/>
          </a:p>
          <a:p>
            <a:pPr algn="l"/>
            <a:endParaRPr lang="zh-CN" altLang="en-US" sz="2200"/>
          </a:p>
        </p:txBody>
      </p:sp>
      <p:sp>
        <p:nvSpPr>
          <p:cNvPr id="6" name="文本占位符 2"/>
          <p:cNvSpPr>
            <a:spLocks noGrp="1"/>
          </p:cNvSpPr>
          <p:nvPr/>
        </p:nvSpPr>
        <p:spPr>
          <a:xfrm>
            <a:off x="2862515" y="2926961"/>
            <a:ext cx="5435896" cy="3031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200"/>
              <a:t>4. </a:t>
            </a:r>
            <a:r>
              <a:rPr lang="zh-CN" altLang="en-US" sz="2200">
                <a:sym typeface="+mn-ea"/>
              </a:rPr>
              <a:t>实物成果与性能测试验证</a:t>
            </a:r>
            <a:endParaRPr lang="zh-CN" altLang="en-US" sz="2200"/>
          </a:p>
          <a:p>
            <a:pPr algn="l"/>
            <a:endParaRPr lang="zh-CN" altLang="en-US" sz="2200"/>
          </a:p>
          <a:p>
            <a:pPr algn="l"/>
            <a:endParaRPr lang="zh-CN" altLang="en-US" sz="220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2849815" y="3405751"/>
            <a:ext cx="5435896" cy="3031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200"/>
              <a:t>5</a:t>
            </a:r>
            <a:r>
              <a:rPr lang="en-US" altLang="zh-CN" sz="2200">
                <a:sym typeface="+mn-ea"/>
              </a:rPr>
              <a:t>. </a:t>
            </a:r>
            <a:r>
              <a:rPr lang="zh-CN" altLang="en-US" sz="2200">
                <a:sym typeface="+mn-ea"/>
              </a:rPr>
              <a:t>项目成本</a:t>
            </a:r>
            <a:r>
              <a:rPr lang="en-US" altLang="zh-CN" sz="2200"/>
              <a:t> </a:t>
            </a:r>
            <a:endParaRPr lang="zh-CN" altLang="en-US" sz="2200"/>
          </a:p>
          <a:p>
            <a:pPr algn="l"/>
            <a:endParaRPr lang="zh-CN" altLang="en-US" sz="2200"/>
          </a:p>
          <a:p>
            <a:pPr algn="l"/>
            <a:endParaRPr lang="zh-CN" altLang="en-US" sz="2200"/>
          </a:p>
          <a:p>
            <a:pPr algn="l"/>
            <a:endParaRPr lang="zh-CN" altLang="en-US" sz="2200"/>
          </a:p>
        </p:txBody>
      </p:sp>
      <p:sp>
        <p:nvSpPr>
          <p:cNvPr id="8" name="文本占位符 2"/>
          <p:cNvSpPr>
            <a:spLocks noGrp="1"/>
          </p:cNvSpPr>
          <p:nvPr/>
        </p:nvSpPr>
        <p:spPr>
          <a:xfrm>
            <a:off x="2849815" y="3884541"/>
            <a:ext cx="5435896" cy="3031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200"/>
              <a:t>6.</a:t>
            </a:r>
            <a:r>
              <a:rPr lang="zh-CN" altLang="en-US" sz="2200">
                <a:sym typeface="+mn-ea"/>
              </a:rPr>
              <a:t>创新点总结</a:t>
            </a:r>
            <a:r>
              <a:rPr lang="en-US" altLang="zh-CN" sz="2200"/>
              <a:t> </a:t>
            </a:r>
            <a:endParaRPr lang="zh-CN" altLang="en-US" sz="2200"/>
          </a:p>
          <a:p>
            <a:pPr algn="l"/>
            <a:endParaRPr lang="zh-CN" altLang="en-US" sz="2200"/>
          </a:p>
          <a:p>
            <a:pPr algn="l"/>
            <a:endParaRPr lang="zh-CN" altLang="en-US" sz="2200"/>
          </a:p>
        </p:txBody>
      </p:sp>
      <p:sp>
        <p:nvSpPr>
          <p:cNvPr id="9" name="文本框 8"/>
          <p:cNvSpPr txBox="1"/>
          <p:nvPr/>
        </p:nvSpPr>
        <p:spPr>
          <a:xfrm>
            <a:off x="875030" y="685800"/>
            <a:ext cx="1413510" cy="856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200595" y="678426"/>
            <a:ext cx="5435896" cy="30315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800"/>
              <a:t>组队介绍</a:t>
            </a:r>
            <a:endParaRPr lang="en-US" altLang="zh-CN" sz="2800"/>
          </a:p>
        </p:txBody>
      </p:sp>
      <p:graphicFrame>
        <p:nvGraphicFramePr>
          <p:cNvPr id="4" name="表格 3"/>
          <p:cNvGraphicFramePr/>
          <p:nvPr/>
        </p:nvGraphicFramePr>
        <p:xfrm>
          <a:off x="368300" y="1498600"/>
          <a:ext cx="11287125" cy="49371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7425"/>
                <a:gridCol w="2257425"/>
                <a:gridCol w="2257425"/>
                <a:gridCol w="2257425"/>
                <a:gridCol w="2257425"/>
              </a:tblGrid>
              <a:tr h="9874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姓名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学校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学院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专业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</a:rPr>
                        <a:t>负责内容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9874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zh-CN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xxx</a:t>
                      </a: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大学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xxx</a:t>
                      </a: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学院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xxx</a:t>
                      </a: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专业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队长，负责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xxx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9874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zh-CN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xxx</a:t>
                      </a: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大学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xxx</a:t>
                      </a: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学院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xxx</a:t>
                      </a:r>
                      <a:r>
                        <a:rPr lang="zh-CN" altLang="en-US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专业</a:t>
                      </a: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队员，负责</a:t>
                      </a: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xxx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98742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9874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200595" y="678426"/>
            <a:ext cx="5435896" cy="30315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800">
                <a:sym typeface="+mn-ea"/>
              </a:rPr>
              <a:t>系统总体方案与硬件架构</a:t>
            </a:r>
            <a:endParaRPr lang="zh-CN" altLang="zh-CN" sz="2800" spc="3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6AA0"/>
                </a:solidFill>
                <a:latin typeface="Microsoft YaHei"/>
              </a:defRPr>
            </a:pPr>
            <a:r>
              <a:t>当前样机：单通道、单指数输出链路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847088"/>
            <a:ext cx="1847088" cy="1078992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984248"/>
            <a:ext cx="1700784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3859"/>
                </a:solidFill>
                <a:latin typeface="Microsoft YaHei"/>
              </a:defRPr>
            </a:pPr>
            <a:r>
              <a:t>PC 上位机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395728"/>
            <a:ext cx="1719072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D5E6D"/>
                </a:solidFill>
                <a:latin typeface="Microsoft YaHei"/>
              </a:defRPr>
            </a:pPr>
            <a:r>
              <a:t>参数设置 / 状态显示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847088"/>
            <a:ext cx="1847088" cy="1078992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1984248"/>
            <a:ext cx="1700784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3859"/>
                </a:solidFill>
                <a:latin typeface="Microsoft YaHei"/>
              </a:defRPr>
            </a:pPr>
            <a:r>
              <a:t>STM32F405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2395728"/>
            <a:ext cx="1719072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D5E6D"/>
                </a:solidFill>
                <a:latin typeface="Microsoft YaHei"/>
              </a:defRPr>
            </a:pPr>
            <a:r>
              <a:t>协议校验 / SPI 控制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57216" y="1847088"/>
            <a:ext cx="1847088" cy="1078992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1984248"/>
            <a:ext cx="1700784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3859"/>
                </a:solidFill>
                <a:latin typeface="Microsoft YaHei"/>
              </a:defRPr>
            </a:pPr>
            <a:r>
              <a:t>G1 FPGA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395728"/>
            <a:ext cx="1719072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D5E6D"/>
                </a:solidFill>
                <a:latin typeface="Microsoft YaHei"/>
              </a:defRPr>
            </a:pPr>
            <a:r>
              <a:t>时序 / 脉冲 / 噪声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1847088"/>
            <a:ext cx="1847088" cy="1078992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52944" y="1984248"/>
            <a:ext cx="1700784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3859"/>
                </a:solidFill>
                <a:latin typeface="Microsoft YaHei"/>
              </a:defRPr>
            </a:pPr>
            <a:r>
              <a:t>AD9708 DAC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395728"/>
            <a:ext cx="1719072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D5E6D"/>
                </a:solidFill>
                <a:latin typeface="Microsoft YaHei"/>
              </a:defRPr>
            </a:pPr>
            <a:r>
              <a:t>8 bit 数模转换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02368" y="1847088"/>
            <a:ext cx="1847088" cy="1078992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1984248"/>
            <a:ext cx="1700784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3859"/>
                </a:solidFill>
                <a:latin typeface="Microsoft YaHei"/>
              </a:defRPr>
            </a:pPr>
            <a:r>
              <a:t>BNC 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66376" y="2395728"/>
            <a:ext cx="1719072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D5E6D"/>
                </a:solidFill>
                <a:latin typeface="Microsoft YaHei"/>
              </a:defRPr>
            </a:pPr>
            <a:r>
              <a:t>示波器观测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59152" y="2377440"/>
            <a:ext cx="411480" cy="0"/>
          </a:xfrm>
          <a:prstGeom prst="line">
            <a:avLst/>
          </a:prstGeom>
          <a:ln w="25400">
            <a:solidFill>
              <a:srgbClr val="0E8F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97480" y="2267712"/>
            <a:ext cx="182880" cy="21031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E8F8F"/>
                </a:solidFill>
                <a:latin typeface="Microsoft YaHei"/>
              </a:defRPr>
            </a:pPr>
            <a:r>
              <a:t>›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81728" y="2377440"/>
            <a:ext cx="411480" cy="0"/>
          </a:xfrm>
          <a:prstGeom prst="line">
            <a:avLst/>
          </a:prstGeom>
          <a:ln w="25400">
            <a:solidFill>
              <a:srgbClr val="0E8F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0056" y="2267712"/>
            <a:ext cx="182880" cy="21031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E8F8F"/>
                </a:solidFill>
                <a:latin typeface="Microsoft YaHei"/>
              </a:defRPr>
            </a:pPr>
            <a:r>
              <a:t>›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04304" y="2377440"/>
            <a:ext cx="411479" cy="0"/>
          </a:xfrm>
          <a:prstGeom prst="line">
            <a:avLst/>
          </a:prstGeom>
          <a:ln w="25400">
            <a:solidFill>
              <a:srgbClr val="0E8F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42631" y="2267712"/>
            <a:ext cx="182880" cy="21031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E8F8F"/>
                </a:solidFill>
                <a:latin typeface="Microsoft YaHei"/>
              </a:defRPr>
            </a:pPr>
            <a:r>
              <a:t>›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26880" y="2377440"/>
            <a:ext cx="411479" cy="0"/>
          </a:xfrm>
          <a:prstGeom prst="line">
            <a:avLst/>
          </a:prstGeom>
          <a:ln w="25400">
            <a:solidFill>
              <a:srgbClr val="0E8F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665207" y="2267712"/>
            <a:ext cx="182880" cy="21031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E8F8F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27248"/>
            <a:ext cx="10881360" cy="27432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D5E6D"/>
                </a:solidFill>
                <a:latin typeface="Microsoft YaHei"/>
              </a:defRPr>
            </a:pPr>
            <a:r>
              <a:t>CH340/USART1                       SPI 并行参数与握手                   1 μs DAC 更新节拍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" y="3675887"/>
            <a:ext cx="3584448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3840480"/>
            <a:ext cx="315468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6AA0"/>
                </a:solidFill>
                <a:latin typeface="Microsoft YaHei"/>
              </a:defRPr>
            </a:pPr>
            <a:r>
              <a:t>控制与安全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297680"/>
            <a:ext cx="3127248" cy="106984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PC 发起设置；STM32 校验并确认。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停止/PA0 异常可中断输出；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状态由上位机读取。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675887"/>
            <a:ext cx="3584448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3840480"/>
            <a:ext cx="315468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6AA0"/>
                </a:solidFill>
                <a:latin typeface="Microsoft YaHei"/>
              </a:defRPr>
            </a:pPr>
            <a:r>
              <a:t>波形核心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297680"/>
            <a:ext cx="3127248" cy="106984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50 MHz FPGA 时钟；单指数波形、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固定/随机事件调度、谱表取样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与高斯近似噪声叠加。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3675887"/>
            <a:ext cx="3584448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6175" y="3840480"/>
            <a:ext cx="315468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6AA0"/>
                </a:solidFill>
                <a:latin typeface="Microsoft YaHei"/>
              </a:defRPr>
            </a:pPr>
            <a:r>
              <a:t>模拟输出边界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5" y="4297680"/>
            <a:ext cx="3127248" cy="106984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第一阶段使用 ATK-HS-ADDA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V3.3 模块的 AD9708 通道；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当前未验证模拟闭环校准。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6419088"/>
            <a:ext cx="1120140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D5E6D"/>
                </a:solidFill>
                <a:latin typeface="Microsoft YaHei"/>
              </a:defRPr>
            </a:pPr>
            <a:r>
              <a:t>注：AD9767 双通道模块为后续升级方案，不属于当前已完成链路。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200595" y="678426"/>
            <a:ext cx="5435896" cy="303158"/>
          </a:xfrm>
        </p:spPr>
        <p:txBody>
          <a:bodyPr>
            <a:noAutofit/>
          </a:bodyPr>
          <a:p>
            <a:pPr marL="0" indent="0" algn="l">
              <a:buNone/>
            </a:pPr>
            <a:r>
              <a:rPr lang="zh-CN" altLang="en-US" sz="2800">
                <a:sym typeface="+mn-ea"/>
              </a:rPr>
              <a:t>核心算法与关键技术实现</a:t>
            </a:r>
            <a:endParaRPr lang="zh-CN" altLang="zh-CN" sz="2800" spc="3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225296"/>
            <a:ext cx="1115568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6AA0"/>
                </a:solidFill>
                <a:latin typeface="Microsoft YaHei"/>
              </a:defRPr>
            </a:pPr>
            <a:r>
              <a:t>以确定性时序产生可配置脉冲，再叠加事件与噪声模型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682496"/>
            <a:ext cx="5458968" cy="4425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498348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859"/>
                </a:solidFill>
                <a:latin typeface="Microsoft YaHei"/>
              </a:defRPr>
            </a:pPr>
            <a:r>
              <a:t>FPGA 端：实时生成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414016"/>
            <a:ext cx="1033271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E8F8F"/>
                </a:solidFill>
                <a:latin typeface="Microsoft YaHei"/>
              </a:defRPr>
            </a:pPr>
            <a:r>
              <a:t>脉冲核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404872"/>
            <a:ext cx="3959352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单指数离散衰减；50 MHz 系统时钟，DAC 码约 1 μs 更新。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227832"/>
            <a:ext cx="1033271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E8F8F"/>
                </a:solidFill>
                <a:latin typeface="Microsoft YaHei"/>
              </a:defRPr>
            </a:pPr>
            <a:r>
              <a:t>事件时序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218688"/>
            <a:ext cx="3959352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固定周期 10 μs–10 ms；随机到达为离散近似，分布定量仍需补测。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041648"/>
            <a:ext cx="1033271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E8F8F"/>
                </a:solidFill>
                <a:latin typeface="Microsoft YaHei"/>
              </a:defRPr>
            </a:pPr>
            <a:r>
              <a:t>幅度分布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032504"/>
            <a:ext cx="3959352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256 点谱分位表支持自定义能谱演示；不等于核素实测准确性。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855464"/>
            <a:ext cx="1033271" cy="310896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E8F8F"/>
                </a:solidFill>
                <a:latin typeface="Microsoft YaHei"/>
              </a:defRPr>
            </a:pPr>
            <a:r>
              <a:t>噪声模型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846320"/>
            <a:ext cx="3959352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1024 点近似高斯分位 LUT；高设定下须检查 DAC 削顶。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82496"/>
            <a:ext cx="5495544" cy="4425696"/>
          </a:xfrm>
          <a:prstGeom prst="roundRect">
            <a:avLst/>
          </a:prstGeom>
          <a:solidFill>
            <a:srgbClr val="EDF8F4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874519"/>
            <a:ext cx="507492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3859"/>
                </a:solidFill>
                <a:latin typeface="Microsoft YaHei"/>
              </a:defRPr>
            </a:pPr>
            <a:r>
              <a:t>PC + STM32：配置与协作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86584"/>
            <a:ext cx="4864608" cy="2066543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① 上位机设置幅度、宽度、周期、噪声与谱表。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② STM32 执行参数合法性检查、握手/提交、SPI 下发。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③ FPGA 回报状态；PC 显示当前配置与异常。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754880"/>
            <a:ext cx="501091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4910328"/>
            <a:ext cx="4681728" cy="56692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65A0C"/>
                </a:solidFill>
                <a:latin typeface="Microsoft YaHei"/>
              </a:defRPr>
            </a:pPr>
            <a:r>
              <a:t>现阶段交付口径：单通道 / 单指数；双指数、AD9767 双通道属后续升级。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6419088"/>
            <a:ext cx="1120140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D5E6D"/>
                </a:solidFill>
                <a:latin typeface="Microsoft YaHei"/>
              </a:defRPr>
            </a:pPr>
            <a:r>
              <a:t>模型与软件界面能力需与模拟输出实测区分；本页只陈述已落地的核心链路。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200595" y="678426"/>
            <a:ext cx="5435896" cy="30315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800">
                <a:sym typeface="+mn-ea"/>
              </a:rPr>
              <a:t>实物成果与性能测试验证</a:t>
            </a:r>
            <a:endParaRPr lang="zh-CN" altLang="zh-CN" sz="2800" spc="3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225296"/>
            <a:ext cx="1115568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6AA0"/>
                </a:solidFill>
                <a:latin typeface="Microsoft YaHei"/>
              </a:defRPr>
            </a:pPr>
            <a:r>
              <a:t>2026-10-22 精简五组工程核验：代表点与边界点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664208"/>
            <a:ext cx="5669280" cy="4443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56231"/>
            <a:ext cx="5285232" cy="320040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3859"/>
                </a:solidFill>
                <a:latin typeface="Microsoft YaHei"/>
              </a:defRPr>
            </a:pPr>
            <a:r>
              <a:t>已记录的示波器读数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2318003"/>
            <a:ext cx="5321808" cy="429768"/>
          </a:xfrm>
          <a:prstGeom prst="rect">
            <a:avLst/>
          </a:prstGeom>
          <a:solidFill>
            <a:srgbClr val="EFF6FA"/>
          </a:solidFill>
          <a:ln w="12700"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350008"/>
            <a:ext cx="2176272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23241"/>
                </a:solidFill>
                <a:latin typeface="Microsoft YaHei"/>
              </a:defRPr>
            </a:pPr>
            <a:r>
              <a:t>3.3 V 幅度设定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2350008"/>
            <a:ext cx="1325880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E6AA0"/>
                </a:solidFill>
                <a:latin typeface="Microsoft YaHei"/>
              </a:defRPr>
            </a:pPr>
            <a:r>
              <a:t>3.260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2350008"/>
            <a:ext cx="1618488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4D5E6D"/>
                </a:solidFill>
                <a:latin typeface="Microsoft YaHei"/>
              </a:defRPr>
            </a:pPr>
            <a:r>
              <a:t>−1.21%（单点）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43784"/>
            <a:ext cx="2176272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23241"/>
                </a:solidFill>
                <a:latin typeface="Microsoft YaHei"/>
              </a:defRPr>
            </a:pPr>
            <a:r>
              <a:t>1 μs 脉宽设定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843784"/>
            <a:ext cx="1325880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E6AA0"/>
                </a:solidFill>
                <a:latin typeface="Microsoft YaHei"/>
              </a:defRPr>
            </a:pPr>
            <a:r>
              <a:t>1.0285 μs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843784"/>
            <a:ext cx="1618488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4D5E6D"/>
                </a:solidFill>
                <a:latin typeface="Microsoft YaHei"/>
              </a:defRPr>
            </a:pPr>
            <a:r>
              <a:t>FWHM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305556"/>
            <a:ext cx="5321808" cy="429768"/>
          </a:xfrm>
          <a:prstGeom prst="rect">
            <a:avLst/>
          </a:prstGeom>
          <a:solidFill>
            <a:srgbClr val="EFF6FA"/>
          </a:solidFill>
          <a:ln w="12700"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337560"/>
            <a:ext cx="2176272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23241"/>
                </a:solidFill>
                <a:latin typeface="Microsoft YaHei"/>
              </a:defRPr>
            </a:pPr>
            <a:r>
              <a:t>100 μs 脉宽设定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3337560"/>
            <a:ext cx="1325880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E6AA0"/>
                </a:solidFill>
                <a:latin typeface="Microsoft YaHei"/>
              </a:defRPr>
            </a:pPr>
            <a:r>
              <a:t>98.00 μs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3337560"/>
            <a:ext cx="1618488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4D5E6D"/>
                </a:solidFill>
                <a:latin typeface="Microsoft YaHei"/>
              </a:defRPr>
            </a:pPr>
            <a:r>
              <a:t>FWHM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831335"/>
            <a:ext cx="2176272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23241"/>
                </a:solidFill>
                <a:latin typeface="Microsoft YaHei"/>
              </a:defRPr>
            </a:pPr>
            <a:r>
              <a:t>10 μs 周期设定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3831335"/>
            <a:ext cx="1325880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E6AA0"/>
                </a:solidFill>
                <a:latin typeface="Microsoft YaHei"/>
              </a:defRPr>
            </a:pPr>
            <a:r>
              <a:t>10.000 μs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3831335"/>
            <a:ext cx="1618488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4D5E6D"/>
                </a:solidFill>
                <a:latin typeface="Microsoft YaHei"/>
              </a:defRPr>
            </a:pPr>
            <a:r>
              <a:t>100 kHz；短记录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" y="4293108"/>
            <a:ext cx="5321808" cy="429768"/>
          </a:xfrm>
          <a:prstGeom prst="rect">
            <a:avLst/>
          </a:prstGeom>
          <a:solidFill>
            <a:srgbClr val="EFF6FA"/>
          </a:solidFill>
          <a:ln w="12700"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325112"/>
            <a:ext cx="2176272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223241"/>
                </a:solidFill>
                <a:latin typeface="Microsoft YaHei"/>
              </a:defRPr>
            </a:pPr>
            <a:r>
              <a:t>10 ms 周期设定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4325112"/>
            <a:ext cx="1325880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1E6AA0"/>
                </a:solidFill>
                <a:latin typeface="Microsoft YaHei"/>
              </a:defRPr>
            </a:pPr>
            <a:r>
              <a:t>10.000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4325112"/>
            <a:ext cx="1618488" cy="2834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4D5E6D"/>
                </a:solidFill>
                <a:latin typeface="Microsoft YaHei"/>
              </a:defRPr>
            </a:pPr>
            <a:r>
              <a:t>单点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" y="4928616"/>
            <a:ext cx="5193792" cy="65836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65A0C"/>
                </a:solidFill>
                <a:latin typeface="Microsoft YaHei"/>
              </a:defRPr>
            </a:pPr>
            <a:r>
              <a:t>20%FS 高斯设定：AC RMS 1.232 V；按暂定跨度约 19.56%FS，但累计削顶计数 90,879，不能称无削顶达标。</a:t>
            </a:r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673352"/>
            <a:ext cx="5184648" cy="18745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55664" y="3575304"/>
            <a:ext cx="5120640" cy="23774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4D5E6D"/>
                </a:solidFill>
                <a:latin typeface="Microsoft YaHei"/>
              </a:defRPr>
            </a:pPr>
            <a:r>
              <a:t>示波器实拍：3.3 V 幅度点</a:t>
            </a:r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858768"/>
            <a:ext cx="5184648" cy="187451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55664" y="5779008"/>
            <a:ext cx="5120640" cy="24688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4D5E6D"/>
                </a:solidFill>
                <a:latin typeface="Microsoft YaHei"/>
              </a:defRPr>
            </a:pPr>
            <a:r>
              <a:t>示波器实拍：10 μs 周期点 / 100 kHz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6419088"/>
            <a:ext cx="1120140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D5E6D"/>
                </a:solidFill>
                <a:latin typeface="Microsoft YaHei"/>
              </a:defRPr>
            </a:pPr>
            <a:r>
              <a:t>实物整机照片待补；上述为局部工程核验，不代表全量程、全部功能或可溯源精度验收。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200595" y="678426"/>
            <a:ext cx="5435896" cy="30315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800">
                <a:sym typeface="+mn-ea"/>
              </a:rPr>
              <a:t>项目成本</a:t>
            </a:r>
            <a:r>
              <a:rPr lang="en-US" altLang="zh-CN" sz="2800">
                <a:sym typeface="+mn-ea"/>
              </a:rPr>
              <a:t> </a:t>
            </a:r>
            <a:endParaRPr lang="zh-CN" altLang="zh-CN" sz="2800" spc="3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6AA0"/>
                </a:solidFill>
                <a:latin typeface="Microsoft YaHei"/>
              </a:defRPr>
            </a:pPr>
            <a:r>
              <a:t>当前样机物料构成与成本登记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682496"/>
            <a:ext cx="111556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20240"/>
            <a:ext cx="246888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3859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920240"/>
            <a:ext cx="434340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3859"/>
                </a:solidFill>
                <a:latin typeface="Microsoft YaHei"/>
              </a:defRPr>
            </a:pPr>
            <a:r>
              <a:t>当前使用/用途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7848" y="1920240"/>
            <a:ext cx="1508760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3859"/>
                </a:solidFill>
                <a:latin typeface="Microsoft YaHei"/>
              </a:defRPr>
            </a:pPr>
            <a:r>
              <a:t>数量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7776" y="1920240"/>
            <a:ext cx="1719072" cy="32918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83859"/>
                </a:solidFill>
                <a:latin typeface="Microsoft YaHei"/>
              </a:defRPr>
            </a:pPr>
            <a:r>
              <a:t>实付金额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" y="2322576"/>
            <a:ext cx="10762488" cy="0"/>
          </a:xfrm>
          <a:prstGeom prst="line">
            <a:avLst/>
          </a:prstGeom>
          <a:ln w="12700">
            <a:solidFill>
              <a:srgbClr val="CE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13232" y="2414016"/>
            <a:ext cx="10744200" cy="484632"/>
          </a:xfrm>
          <a:prstGeom prst="rect">
            <a:avLst/>
          </a:prstGeom>
          <a:solidFill>
            <a:srgbClr val="EFF6FA"/>
          </a:solidFill>
          <a:ln w="12700"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46888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FPGA 开发板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50592"/>
            <a:ext cx="434340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G1 板卡，实时波形与事件生成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450592"/>
            <a:ext cx="150876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7776" y="2450592"/>
            <a:ext cx="1719072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待补充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980944"/>
            <a:ext cx="246888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主控板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980944"/>
            <a:ext cx="434340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STM32F405，协议与 SPI 下发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2980944"/>
            <a:ext cx="150876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7776" y="2980944"/>
            <a:ext cx="1719072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待补充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474720"/>
            <a:ext cx="10744200" cy="484632"/>
          </a:xfrm>
          <a:prstGeom prst="rect">
            <a:avLst/>
          </a:prstGeom>
          <a:solidFill>
            <a:srgbClr val="EFF6FA"/>
          </a:solidFill>
          <a:ln w="12700"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11296"/>
            <a:ext cx="246888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DAC 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511296"/>
            <a:ext cx="434340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ATK-HS-ADDA V3.3 / AD9708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3511296"/>
            <a:ext cx="150876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7776" y="3511296"/>
            <a:ext cx="1719072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待补充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041648"/>
            <a:ext cx="246888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供电与连接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041648"/>
            <a:ext cx="434340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成品电源、线缆、BNC/接插件等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7848" y="4041648"/>
            <a:ext cx="150876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按实物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4041648"/>
            <a:ext cx="1719072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待补充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535424"/>
            <a:ext cx="10744200" cy="484632"/>
          </a:xfrm>
          <a:prstGeom prst="rect">
            <a:avLst/>
          </a:prstGeom>
          <a:solidFill>
            <a:srgbClr val="EFF6FA"/>
          </a:solidFill>
          <a:ln w="12700"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572000"/>
            <a:ext cx="246888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调试/板间辅材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572000"/>
            <a:ext cx="434340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转接、固定与必要辅材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7848" y="4572000"/>
            <a:ext cx="1508760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按实物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7776" y="4572000"/>
            <a:ext cx="1719072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23241"/>
                </a:solidFill>
                <a:latin typeface="Microsoft YaHei"/>
              </a:defRPr>
            </a:pPr>
            <a:r>
              <a:t>待补充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13232" y="5138928"/>
            <a:ext cx="10762488" cy="0"/>
          </a:xfrm>
          <a:prstGeom prst="line">
            <a:avLst/>
          </a:prstGeom>
          <a:ln w="12700">
            <a:solidFill>
              <a:srgbClr val="CE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9808" y="5294376"/>
            <a:ext cx="8138160" cy="38404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6AA0"/>
                </a:solidFill>
                <a:latin typeface="Microsoft YaHei"/>
              </a:defRPr>
            </a:pPr>
            <a:r>
              <a:t>目标预算：约 ¥1,000（电脑、示波器不计入样机物料）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63456" y="5294376"/>
            <a:ext cx="2084831" cy="38404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A65A0C"/>
                </a:solidFill>
                <a:latin typeface="Microsoft YaHei"/>
              </a:defRPr>
            </a:pPr>
            <a:r>
              <a:t>实付合计：待补充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6419088"/>
            <a:ext cx="1120140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D5E6D"/>
                </a:solidFill>
                <a:latin typeface="Microsoft YaHei"/>
              </a:defRPr>
            </a:pPr>
            <a:r>
              <a:t>仅列当前样机物料；AD9767 双通道升级板未纳入当前已购成本。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200595" y="678426"/>
            <a:ext cx="5435896" cy="30315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800">
                <a:sym typeface="+mn-ea"/>
              </a:rPr>
              <a:t>创新点总结</a:t>
            </a:r>
            <a:r>
              <a:rPr lang="en-US" altLang="zh-CN" sz="2800">
                <a:sym typeface="+mn-ea"/>
              </a:rPr>
              <a:t> </a:t>
            </a:r>
            <a:endParaRPr lang="zh-CN" altLang="zh-CN" sz="2800" spc="3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2926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6AA0"/>
                </a:solidFill>
                <a:latin typeface="Microsoft YaHei"/>
              </a:defRPr>
            </a:pPr>
            <a:r>
              <a:t>已实现特点与下一阶段升级路线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764792"/>
            <a:ext cx="3584448" cy="2532888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984248"/>
            <a:ext cx="320040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3859"/>
                </a:solidFill>
                <a:latin typeface="Microsoft YaHei"/>
              </a:defRPr>
            </a:pPr>
            <a:r>
              <a:t>软硬件分层协作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615184"/>
            <a:ext cx="3191256" cy="12070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PC 负责配置与可视化；STM32 负责协议/安全控制；FPGA 保证脉冲时序；DAC 输出模拟信号。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64792"/>
            <a:ext cx="3584448" cy="2532888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84248"/>
            <a:ext cx="320040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3859"/>
                </a:solidFill>
                <a:latin typeface="Microsoft YaHei"/>
              </a:defRPr>
            </a:pPr>
            <a:r>
              <a:t>参数化仿核波形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15184"/>
            <a:ext cx="3191256" cy="12070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固定/随机事件调度、谱表取样与噪声叠加可组合；现阶段已落地单指数、单通道。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64792"/>
            <a:ext cx="3584448" cy="2532888"/>
          </a:xfrm>
          <a:prstGeom prst="roundRect">
            <a:avLst/>
          </a:prstGeom>
          <a:solidFill>
            <a:srgbClr val="EFF6FA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1984248"/>
            <a:ext cx="3200400" cy="39319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3859"/>
                </a:solidFill>
                <a:latin typeface="Microsoft YaHei"/>
              </a:defRPr>
            </a:pPr>
            <a:r>
              <a:t>证据可复核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2615184"/>
            <a:ext cx="3191256" cy="1207008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保留上位机参数、示波器截图与原始 CSV，对代表点给出定量读数和测量边界。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4626864"/>
            <a:ext cx="11155680" cy="1307592"/>
          </a:xfrm>
          <a:prstGeom prst="roundRect">
            <a:avLst/>
          </a:prstGeom>
          <a:solidFill>
            <a:srgbClr val="EDF8F4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818888"/>
            <a:ext cx="1938528" cy="34747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B9670"/>
                </a:solidFill>
                <a:latin typeface="Microsoft YaHei"/>
              </a:defRPr>
            </a:pPr>
            <a:r>
              <a:t>后续升级（未完成）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4782312"/>
            <a:ext cx="8677656" cy="740664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23241"/>
                </a:solidFill>
                <a:latin typeface="Microsoft YaHei"/>
              </a:defRPr>
            </a:pPr>
            <a:r>
              <a:t>AD9767 双通道与双指数、全量程逐档校准、随机到达统计检验及长时间运行复测；完成后再按赛题指标逐项验收。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6419088"/>
            <a:ext cx="11201400" cy="256032"/>
          </a:xfrm>
          <a:prstGeom prst="rect">
            <a:avLst/>
          </a:prstGeom>
          <a:noFill/>
        </p:spPr>
        <p:txBody>
          <a:bodyPr wrap="square" lIns="54864" rIns="5486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D5E6D"/>
                </a:solidFill>
                <a:latin typeface="Microsoft YaHei"/>
              </a:defRPr>
            </a:pPr>
            <a:r>
              <a:t>展示口径：当前样机可演示代表性波形；未来功能与尚未验证性能不计入已完成成果。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8989aa2d-c5d7-4bac-ade3-04d19354eed8"/>
  <p:tag name="COMMONDATA" val="eyJoZGlkIjoiOTk3YjRjMmRkNWE5NjliYzhkNjRjNDY0MzUyMmJhZGYifQ=="/>
  <p:tag name="resource_record_key" val="{&quot;12&quot;:[25114461],&quot;29&quot;:[50000199,50000047,50000113,50000135,50000097],&quot;8&quot;:[20472196,20469994]}"/>
</p:tagLst>
</file>

<file path=ppt/theme/theme1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{11840C83-08CF-0447-AB9C-1F8C7D95D94D}tf16401378</Template>
  <TotalTime>0</TotalTime>
  <Words>195</Words>
  <Application>WPS 演示</Application>
  <PresentationFormat>宽屏</PresentationFormat>
  <Paragraphs>68</Paragraphs>
  <Slides>9</Slides>
  <Notes>38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Arial Black</vt:lpstr>
      <vt:lpstr>黑体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inspirt</cp:lastModifiedBy>
  <cp:revision>1660</cp:revision>
  <dcterms:created xsi:type="dcterms:W3CDTF">2026-06-17T05:44:00Z</dcterms:created>
  <dcterms:modified xsi:type="dcterms:W3CDTF">2026-08-07T09:03:19Z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D2B284E80DFC4150B163B42C31E2063C_13</vt:lpwstr>
  </property>
  <property fmtid="{D5CDD505-2E9C-101B-9397-08002B2CF9AE}" pid="3" name="KSOProductBuildVer">
    <vt:lpwstr>2052-12.1.0.26895</vt:lpwstr>
  </property>
</Properties>
</file>